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" panose="020B0604020202020204" pitchFamily="34" charset="0"/>
      <p:regular r:id="rId8"/>
    </p:embeddedFont>
    <p:embeddedFont>
      <p:font typeface="Arial Bold" panose="020B0704020202020204"/>
      <p:regular r:id="rId9"/>
    </p:embeddedFont>
    <p:embeddedFont>
      <p:font typeface="Calibri (MS)" panose="020F0502020204030204" pitchFamily="34" charset="0"/>
      <p:regular r:id="rId10"/>
    </p:embeddedFont>
    <p:embeddedFont>
      <p:font typeface="Calibri (MS) Bold" panose="020F0702030404030204" pitchFamily="34" charset="0"/>
      <p:regular r:id="rId11"/>
    </p:embeddedFont>
    <p:embeddedFont>
      <p:font typeface="Garamond Bold" panose="02020804030307010803"/>
      <p:regular r:id="rId12"/>
    </p:embeddedFont>
    <p:embeddedFont>
      <p:font typeface="Times New Roman Bold" panose="020208030705050203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 /><Relationship Id="rId13" Type="http://schemas.openxmlformats.org/officeDocument/2006/relationships/font" Target="fonts/font6.fntdata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5.fntdata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4.fntdata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font" Target="fonts/font3.fntdata" /><Relationship Id="rId4" Type="http://schemas.openxmlformats.org/officeDocument/2006/relationships/slide" Target="slides/slide3.xml" /><Relationship Id="rId9" Type="http://schemas.openxmlformats.org/officeDocument/2006/relationships/font" Target="fonts/font2.fntdata" /><Relationship Id="rId1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Relationship Id="rId6" Type="http://schemas.openxmlformats.org/officeDocument/2006/relationships/hyperlink" Target="https://youtu.be/SfIbuJaK5dU?si=pInQTNrInSaJUY6u" TargetMode="External" /><Relationship Id="rId5" Type="http://schemas.openxmlformats.org/officeDocument/2006/relationships/image" Target="../media/image9.jpeg" /><Relationship Id="rId4" Type="http://schemas.openxmlformats.org/officeDocument/2006/relationships/image" Target="../media/image8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12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randviewresearch.com/horizon/outlook/humanoid-robot-market/india" TargetMode="External" /><Relationship Id="rId7" Type="http://schemas.openxmlformats.org/officeDocument/2006/relationships/hyperlink" Target="https://www.ieee-jas.net/article/doi/10.1109/JAS.2023.124140" TargetMode="External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Relationship Id="rId6" Type="http://schemas.openxmlformats.org/officeDocument/2006/relationships/hyperlink" Target="https://elib.dlr.de/202909/1/wolf_modularity_copyright.pdf" TargetMode="External" /><Relationship Id="rId5" Type="http://schemas.openxmlformats.org/officeDocument/2006/relationships/hyperlink" Target="https://www.sciencedirect.com/science/article/pii/S0957415820300477" TargetMode="External" /><Relationship Id="rId4" Type="http://schemas.openxmlformats.org/officeDocument/2006/relationships/image" Target="../media/image14.jpe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330340" y="1277281"/>
            <a:ext cx="6953250" cy="7734300"/>
          </a:xfrm>
          <a:custGeom>
            <a:avLst/>
            <a:gdLst/>
            <a:ahLst/>
            <a:cxnLst/>
            <a:rect l="l" t="t" r="r" b="b"/>
            <a:pathLst>
              <a:path w="6953250" h="7734300">
                <a:moveTo>
                  <a:pt x="0" y="0"/>
                </a:moveTo>
                <a:lnTo>
                  <a:pt x="6953250" y="0"/>
                </a:lnTo>
                <a:lnTo>
                  <a:pt x="6953250" y="7734300"/>
                </a:lnTo>
                <a:lnTo>
                  <a:pt x="0" y="7734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3103642" y="2573821"/>
            <a:ext cx="4805263" cy="5138301"/>
            <a:chOff x="0" y="0"/>
            <a:chExt cx="6407017" cy="68510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1015"/>
            </a:xfrm>
            <a:custGeom>
              <a:avLst/>
              <a:gdLst/>
              <a:ahLst/>
              <a:cxnLst/>
              <a:rect l="l" t="t" r="r" b="b"/>
              <a:pathLst>
                <a:path w="6407023" h="6851015">
                  <a:moveTo>
                    <a:pt x="0" y="0"/>
                  </a:moveTo>
                  <a:lnTo>
                    <a:pt x="6407023" y="0"/>
                  </a:lnTo>
                  <a:lnTo>
                    <a:pt x="6407023" y="6851015"/>
                  </a:lnTo>
                  <a:lnTo>
                    <a:pt x="0" y="6851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3" b="-3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 descr="$PPTXTitle"/>
          <p:cNvSpPr txBox="1"/>
          <p:nvPr/>
        </p:nvSpPr>
        <p:spPr>
          <a:xfrm>
            <a:off x="583134" y="420332"/>
            <a:ext cx="14345715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 spc="-10" dirty="0">
                <a:solidFill>
                  <a:srgbClr val="1F497D"/>
                </a:solidFill>
                <a:latin typeface="Garamond Bold"/>
                <a:ea typeface="Garamond Bold"/>
                <a:cs typeface="Garamond Bold"/>
                <a:sym typeface="Garamond Bold"/>
              </a:rPr>
              <a:t>SMAR T	INDIA	HACKATHON	2025</a:t>
            </a: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696953" y="3403318"/>
            <a:ext cx="104775" cy="104774"/>
            <a:chOff x="0" y="0"/>
            <a:chExt cx="139700" cy="1396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9700" cy="139700"/>
            </a:xfrm>
            <a:custGeom>
              <a:avLst/>
              <a:gdLst/>
              <a:ahLst/>
              <a:cxnLst/>
              <a:rect l="l" t="t" r="r" b="b"/>
              <a:pathLst>
                <a:path w="139700" h="139700">
                  <a:moveTo>
                    <a:pt x="0" y="0"/>
                  </a:moveTo>
                  <a:lnTo>
                    <a:pt x="139700" y="0"/>
                  </a:lnTo>
                  <a:lnTo>
                    <a:pt x="139700" y="139700"/>
                  </a:lnTo>
                  <a:lnTo>
                    <a:pt x="0" y="139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62264" y="3181100"/>
            <a:ext cx="8936990" cy="2021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	</a:t>
            </a:r>
            <a:r>
              <a:rPr lang="en-US" sz="2799" b="1" dirty="0">
                <a:solidFill>
                  <a:srgbClr val="208741"/>
                </a:solidFill>
                <a:latin typeface="Arial Bold"/>
                <a:ea typeface="Arial Bold"/>
                <a:cs typeface="Arial Bold"/>
                <a:sym typeface="Arial Bold"/>
              </a:rPr>
              <a:t>25117</a:t>
            </a:r>
          </a:p>
          <a:p>
            <a:pPr algn="l">
              <a:lnSpc>
                <a:spcPts val="6680"/>
              </a:lnSpc>
            </a:pPr>
            <a:r>
              <a:rPr lang="en-US" sz="2799" b="1" spc="-1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	Statement	tittle-	</a:t>
            </a:r>
            <a:r>
              <a:rPr lang="en-US" sz="2799" b="1" spc="-10" dirty="0">
                <a:solidFill>
                  <a:srgbClr val="208741"/>
                </a:solidFill>
                <a:latin typeface="Arial Bold"/>
                <a:ea typeface="Arial Bold"/>
                <a:cs typeface="Arial Bold"/>
                <a:sym typeface="Arial Bold"/>
              </a:rPr>
              <a:t>Student	Innovation: </a:t>
            </a:r>
            <a:r>
              <a:rPr lang="en-US" sz="2799" b="1" spc="-10" dirty="0" err="1">
                <a:solidFill>
                  <a:srgbClr val="208741"/>
                </a:solidFill>
                <a:latin typeface="Arial Bold"/>
                <a:ea typeface="Arial Bold"/>
                <a:cs typeface="Arial Bold"/>
                <a:sym typeface="Arial Bold"/>
              </a:rPr>
              <a:t>Atmanirbhar</a:t>
            </a:r>
            <a:r>
              <a:rPr lang="en-US" sz="2799" b="1" spc="-10" dirty="0">
                <a:solidFill>
                  <a:srgbClr val="208741"/>
                </a:solidFill>
                <a:latin typeface="Arial Bold"/>
                <a:ea typeface="Arial Bold"/>
                <a:cs typeface="Arial Bold"/>
                <a:sym typeface="Arial Bold"/>
              </a:rPr>
              <a:t> Bharat - Robotics and Drones</a:t>
            </a: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696953" y="4251043"/>
            <a:ext cx="104775" cy="104774"/>
            <a:chOff x="0" y="0"/>
            <a:chExt cx="139700" cy="1396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9700" cy="139700"/>
            </a:xfrm>
            <a:custGeom>
              <a:avLst/>
              <a:gdLst/>
              <a:ahLst/>
              <a:cxnLst/>
              <a:rect l="l" t="t" r="r" b="b"/>
              <a:pathLst>
                <a:path w="139700" h="139700">
                  <a:moveTo>
                    <a:pt x="0" y="0"/>
                  </a:moveTo>
                  <a:lnTo>
                    <a:pt x="139700" y="0"/>
                  </a:lnTo>
                  <a:lnTo>
                    <a:pt x="139700" y="139700"/>
                  </a:lnTo>
                  <a:lnTo>
                    <a:pt x="0" y="139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94078" y="4028825"/>
            <a:ext cx="2560320" cy="458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spc="-10">
                <a:solidFill>
                  <a:srgbClr val="208741"/>
                </a:solidFill>
                <a:latin typeface="Arial Bold"/>
                <a:ea typeface="Arial Bold"/>
                <a:cs typeface="Arial Bold"/>
                <a:sym typeface="Arial Bold"/>
              </a:rPr>
              <a:t>Swadeshi	for</a:t>
            </a:r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696953" y="5946493"/>
            <a:ext cx="104775" cy="104774"/>
            <a:chOff x="0" y="0"/>
            <a:chExt cx="139700" cy="13969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9700" cy="139700"/>
            </a:xfrm>
            <a:custGeom>
              <a:avLst/>
              <a:gdLst/>
              <a:ahLst/>
              <a:cxnLst/>
              <a:rect l="l" t="t" r="r" b="b"/>
              <a:pathLst>
                <a:path w="139700" h="139700">
                  <a:moveTo>
                    <a:pt x="0" y="0"/>
                  </a:moveTo>
                  <a:lnTo>
                    <a:pt x="139700" y="0"/>
                  </a:lnTo>
                  <a:lnTo>
                    <a:pt x="139700" y="139700"/>
                  </a:lnTo>
                  <a:lnTo>
                    <a:pt x="0" y="139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61967" y="5724275"/>
            <a:ext cx="4537133" cy="25631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2799" b="1" dirty="0">
                <a:solidFill>
                  <a:srgbClr val="208741"/>
                </a:solidFill>
                <a:latin typeface="Arial Bold"/>
                <a:ea typeface="Arial Bold"/>
                <a:cs typeface="Arial Bold"/>
                <a:sym typeface="Arial Bold"/>
              </a:rPr>
              <a:t>robotics &amp; drones</a:t>
            </a:r>
          </a:p>
          <a:p>
            <a:pPr algn="l">
              <a:lnSpc>
                <a:spcPts val="6669"/>
              </a:lnSpc>
            </a:pPr>
            <a:r>
              <a:rPr lang="en-US" sz="2799" b="1" dirty="0">
                <a:solidFill>
                  <a:srgbClr val="208741"/>
                </a:solidFill>
                <a:latin typeface="Arial Bold"/>
                <a:ea typeface="Arial Bold"/>
                <a:cs typeface="Arial Bold"/>
                <a:sym typeface="Arial Bold"/>
              </a:rPr>
              <a:t>PS Category- Hardware TEAM ID- TID128</a:t>
            </a:r>
          </a:p>
          <a:p>
            <a:pPr algn="l">
              <a:lnSpc>
                <a:spcPts val="3359"/>
              </a:lnSpc>
            </a:pPr>
            <a:r>
              <a:rPr lang="en-US" sz="2799" b="1" spc="-10" dirty="0">
                <a:solidFill>
                  <a:srgbClr val="208741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sz="2799" b="1" spc="-10" dirty="0" err="1">
                <a:solidFill>
                  <a:srgbClr val="208741"/>
                </a:solidFill>
                <a:latin typeface="Arial Bold"/>
                <a:ea typeface="Arial Bold"/>
                <a:cs typeface="Arial Bold"/>
                <a:sym typeface="Arial Bold"/>
              </a:rPr>
              <a:t>Ourobonics</a:t>
            </a:r>
            <a:endParaRPr lang="en-US" sz="2799" b="1" spc="-10" dirty="0">
              <a:solidFill>
                <a:srgbClr val="20874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696953" y="6794218"/>
            <a:ext cx="104775" cy="104774"/>
            <a:chOff x="0" y="0"/>
            <a:chExt cx="139700" cy="13969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9700" cy="139700"/>
            </a:xfrm>
            <a:custGeom>
              <a:avLst/>
              <a:gdLst/>
              <a:ahLst/>
              <a:cxnLst/>
              <a:rect l="l" t="t" r="r" b="b"/>
              <a:pathLst>
                <a:path w="139700" h="139700">
                  <a:moveTo>
                    <a:pt x="0" y="0"/>
                  </a:moveTo>
                  <a:lnTo>
                    <a:pt x="139700" y="0"/>
                  </a:lnTo>
                  <a:lnTo>
                    <a:pt x="139700" y="139700"/>
                  </a:lnTo>
                  <a:lnTo>
                    <a:pt x="0" y="139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696953" y="7641942"/>
            <a:ext cx="104775" cy="104774"/>
            <a:chOff x="0" y="0"/>
            <a:chExt cx="139700" cy="13969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9700" cy="139700"/>
            </a:xfrm>
            <a:custGeom>
              <a:avLst/>
              <a:gdLst/>
              <a:ahLst/>
              <a:cxnLst/>
              <a:rect l="l" t="t" r="r" b="b"/>
              <a:pathLst>
                <a:path w="139700" h="139700">
                  <a:moveTo>
                    <a:pt x="0" y="0"/>
                  </a:moveTo>
                  <a:lnTo>
                    <a:pt x="139700" y="0"/>
                  </a:lnTo>
                  <a:lnTo>
                    <a:pt x="139700" y="139700"/>
                  </a:lnTo>
                  <a:lnTo>
                    <a:pt x="0" y="139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713549" y="8041431"/>
            <a:ext cx="104775" cy="104774"/>
            <a:chOff x="0" y="0"/>
            <a:chExt cx="139700" cy="13969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9700" cy="139700"/>
            </a:xfrm>
            <a:custGeom>
              <a:avLst/>
              <a:gdLst/>
              <a:ahLst/>
              <a:cxnLst/>
              <a:rect l="l" t="t" r="r" b="b"/>
              <a:pathLst>
                <a:path w="139700" h="139700">
                  <a:moveTo>
                    <a:pt x="0" y="0"/>
                  </a:moveTo>
                  <a:lnTo>
                    <a:pt x="139700" y="0"/>
                  </a:lnTo>
                  <a:lnTo>
                    <a:pt x="139700" y="139700"/>
                  </a:lnTo>
                  <a:lnTo>
                    <a:pt x="0" y="139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14762049" y="9445"/>
            <a:ext cx="3313652" cy="1684301"/>
            <a:chOff x="0" y="0"/>
            <a:chExt cx="4418203" cy="2245735"/>
          </a:xfrm>
        </p:grpSpPr>
        <p:sp>
          <p:nvSpPr>
            <p:cNvPr id="22" name="Freeform 22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2"/>
            <a:ext cx="18288000" cy="755015"/>
            <a:chOff x="0" y="0"/>
            <a:chExt cx="24384000" cy="10066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492" cy="1006475"/>
            </a:xfrm>
            <a:custGeom>
              <a:avLst/>
              <a:gdLst/>
              <a:ahLst/>
              <a:cxnLst/>
              <a:rect l="l" t="t" r="r" b="b"/>
              <a:pathLst>
                <a:path w="24383492" h="1006475">
                  <a:moveTo>
                    <a:pt x="24383492" y="1006475"/>
                  </a:moveTo>
                  <a:lnTo>
                    <a:pt x="0" y="1006475"/>
                  </a:lnTo>
                  <a:lnTo>
                    <a:pt x="0" y="0"/>
                  </a:lnTo>
                  <a:lnTo>
                    <a:pt x="24383492" y="0"/>
                  </a:lnTo>
                  <a:lnTo>
                    <a:pt x="24383492" y="1006475"/>
                  </a:lnTo>
                  <a:close/>
                </a:path>
              </a:pathLst>
            </a:custGeom>
            <a:solidFill>
              <a:srgbClr val="006FB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99126" y="-100173"/>
            <a:ext cx="14818675" cy="963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           </a:t>
            </a:r>
          </a:p>
          <a:p>
            <a:pPr algn="l">
              <a:lnSpc>
                <a:spcPts val="4815"/>
              </a:lnSpc>
            </a:pPr>
            <a:endParaRPr lang="en-US" sz="3600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4814"/>
              </a:lnSpc>
            </a:pPr>
            <a:r>
              <a:rPr lang="en-US" sz="2700" b="1" spc="-2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AI-Driven Modular Humanoid Robot for MSME  </a:t>
            </a:r>
          </a:p>
          <a:p>
            <a:pPr algn="l">
              <a:lnSpc>
                <a:spcPts val="4815"/>
              </a:lnSpc>
            </a:pPr>
            <a:r>
              <a:rPr lang="en-US" sz="2700" b="1" spc="-2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Empowerment &amp; High risk work environment</a:t>
            </a:r>
          </a:p>
          <a:p>
            <a:pPr algn="l">
              <a:lnSpc>
                <a:spcPts val="2879"/>
              </a:lnSpc>
            </a:pPr>
            <a:endParaRPr lang="en-US" sz="2700" b="1" spc="-22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2879"/>
              </a:lnSpc>
            </a:pPr>
            <a:r>
              <a:rPr lang="en-US" sz="2400" spc="-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MSMEs face staff shortages, high turnover, inconsistent service.</a:t>
            </a:r>
          </a:p>
          <a:p>
            <a:pPr algn="l">
              <a:lnSpc>
                <a:spcPts val="2879"/>
              </a:lnSpc>
            </a:pPr>
            <a:r>
              <a:rPr lang="en-US" sz="2400" spc="-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High-risk sites (radiology, chemical plants, industries) expose workers to radiation/chemicals.</a:t>
            </a:r>
          </a:p>
          <a:p>
            <a:pPr algn="l">
              <a:lnSpc>
                <a:spcPts val="2879"/>
              </a:lnSpc>
            </a:pPr>
            <a:r>
              <a:rPr lang="en-US" sz="2400" spc="-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Existing humanoids are too expensive (₹20–60 lakh), non-modular, hard to repair.</a:t>
            </a:r>
          </a:p>
          <a:p>
            <a:pPr algn="l">
              <a:lnSpc>
                <a:spcPts val="2879"/>
              </a:lnSpc>
            </a:pPr>
            <a:endParaRPr lang="en-US" sz="2400" spc="-2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879"/>
              </a:lnSpc>
            </a:pPr>
            <a:r>
              <a:rPr lang="en-US" sz="2400" spc="-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We propose </a:t>
            </a:r>
            <a:r>
              <a:rPr lang="en-US" sz="2400" b="1" spc="-2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Kritrim</a:t>
            </a:r>
            <a:r>
              <a:rPr lang="en-US" sz="2400" spc="-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00" b="1" spc="-2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– Modular Snap-and-Fit Humanoid</a:t>
            </a:r>
          </a:p>
          <a:p>
            <a:pPr algn="l">
              <a:lnSpc>
                <a:spcPts val="2879"/>
              </a:lnSpc>
            </a:pPr>
            <a:r>
              <a:rPr lang="en-US" sz="2400" spc="-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 Indigenous humanoid using snap-and-fit modular architecture.</a:t>
            </a:r>
          </a:p>
          <a:p>
            <a:pPr algn="l">
              <a:lnSpc>
                <a:spcPts val="2879"/>
              </a:lnSpc>
            </a:pPr>
            <a:r>
              <a:rPr lang="en-US" sz="2400" spc="-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 Parts can be replaced/repair/customized quickly without technical skills.</a:t>
            </a:r>
          </a:p>
          <a:p>
            <a:pPr algn="l">
              <a:lnSpc>
                <a:spcPts val="2879"/>
              </a:lnSpc>
            </a:pPr>
            <a:endParaRPr lang="en-US" sz="2400" spc="-2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879"/>
              </a:lnSpc>
            </a:pPr>
            <a:r>
              <a:rPr lang="en-US" sz="2400" b="1" spc="-2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Service environments:</a:t>
            </a:r>
            <a:r>
              <a:rPr lang="en-US" sz="2400" spc="-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receptions, libraries, public desks, MSMEs → Customer service.</a:t>
            </a:r>
          </a:p>
          <a:p>
            <a:pPr algn="l">
              <a:lnSpc>
                <a:spcPts val="2879"/>
              </a:lnSpc>
            </a:pPr>
            <a:r>
              <a:rPr lang="en-US" sz="2400" b="1" spc="-2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High-risk environments:</a:t>
            </a:r>
            <a:r>
              <a:rPr lang="en-US" sz="2400" spc="-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radiology rooms, chemical zones, industrial sites → assists safely, handles    documents, guides patients, works where humans face health risks.</a:t>
            </a:r>
          </a:p>
          <a:p>
            <a:pPr algn="l">
              <a:lnSpc>
                <a:spcPts val="2879"/>
              </a:lnSpc>
            </a:pPr>
            <a:endParaRPr lang="en-US" sz="2400" spc="-2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879"/>
              </a:lnSpc>
            </a:pPr>
            <a:r>
              <a:rPr lang="en-US" sz="2400" spc="-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Kritrim also allows material customization based on deployment needs making it a highly versatile and cost-effective solution.</a:t>
            </a:r>
          </a:p>
          <a:p>
            <a:pPr algn="l">
              <a:lnSpc>
                <a:spcPts val="2879"/>
              </a:lnSpc>
            </a:pPr>
            <a:endParaRPr lang="en-US" sz="2400" spc="-2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879"/>
              </a:lnSpc>
            </a:pPr>
            <a:r>
              <a:rPr lang="en-US" sz="2400" spc="-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Kritrim’s uniqueness lies in its combination of modular hardware, snap-and-fit functionality, material flexibility, affordability, and adaptability for both service and hazardous environments. This makes it a truly scalable solution that supports India’s goals of Digital India and Atmanirbhar Bharat by providing a practical, safe, and cost-effective humanoid robot tailored to real Indian needs.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4762049" y="85645"/>
            <a:ext cx="3313652" cy="1684301"/>
            <a:chOff x="0" y="0"/>
            <a:chExt cx="4418203" cy="2245735"/>
          </a:xfrm>
        </p:grpSpPr>
        <p:sp>
          <p:nvSpPr>
            <p:cNvPr id="6" name="Freeform 6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 descr="$PPTXTitle"/>
          <p:cNvSpPr txBox="1"/>
          <p:nvPr/>
        </p:nvSpPr>
        <p:spPr>
          <a:xfrm>
            <a:off x="199126" y="217165"/>
            <a:ext cx="2591435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-1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Ourobonics</a:t>
            </a:r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3335000" y="1943100"/>
            <a:ext cx="4432334" cy="3657600"/>
            <a:chOff x="0" y="0"/>
            <a:chExt cx="5909779" cy="4876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909818" cy="4876800"/>
            </a:xfrm>
            <a:custGeom>
              <a:avLst/>
              <a:gdLst/>
              <a:ahLst/>
              <a:cxnLst/>
              <a:rect l="l" t="t" r="r" b="b"/>
              <a:pathLst>
                <a:path w="5909818" h="4876800">
                  <a:moveTo>
                    <a:pt x="0" y="0"/>
                  </a:moveTo>
                  <a:lnTo>
                    <a:pt x="5909818" y="0"/>
                  </a:lnTo>
                  <a:lnTo>
                    <a:pt x="5909818" y="4876800"/>
                  </a:lnTo>
                  <a:lnTo>
                    <a:pt x="0" y="487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831" r="-483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2"/>
            <a:ext cx="18288000" cy="755015"/>
            <a:chOff x="0" y="0"/>
            <a:chExt cx="24384000" cy="10066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492" cy="1006475"/>
            </a:xfrm>
            <a:custGeom>
              <a:avLst/>
              <a:gdLst/>
              <a:ahLst/>
              <a:cxnLst/>
              <a:rect l="l" t="t" r="r" b="b"/>
              <a:pathLst>
                <a:path w="24383492" h="1006475">
                  <a:moveTo>
                    <a:pt x="24383492" y="1006475"/>
                  </a:moveTo>
                  <a:lnTo>
                    <a:pt x="0" y="1006475"/>
                  </a:lnTo>
                  <a:lnTo>
                    <a:pt x="0" y="0"/>
                  </a:lnTo>
                  <a:lnTo>
                    <a:pt x="24383492" y="0"/>
                  </a:lnTo>
                  <a:lnTo>
                    <a:pt x="24383492" y="1006475"/>
                  </a:lnTo>
                  <a:close/>
                </a:path>
              </a:pathLst>
            </a:custGeom>
            <a:solidFill>
              <a:srgbClr val="006FB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4762049" y="85645"/>
            <a:ext cx="3313652" cy="1684301"/>
            <a:chOff x="0" y="0"/>
            <a:chExt cx="4418203" cy="2245735"/>
          </a:xfrm>
        </p:grpSpPr>
        <p:sp>
          <p:nvSpPr>
            <p:cNvPr id="7" name="Freeform 7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826875" y="5426557"/>
            <a:ext cx="122796" cy="122796"/>
            <a:chOff x="0" y="0"/>
            <a:chExt cx="163728" cy="1637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3703" cy="163703"/>
            </a:xfrm>
            <a:custGeom>
              <a:avLst/>
              <a:gdLst/>
              <a:ahLst/>
              <a:cxnLst/>
              <a:rect l="l" t="t" r="r" b="b"/>
              <a:pathLst>
                <a:path w="163703" h="163703">
                  <a:moveTo>
                    <a:pt x="0" y="0"/>
                  </a:moveTo>
                  <a:lnTo>
                    <a:pt x="163703" y="0"/>
                  </a:lnTo>
                  <a:lnTo>
                    <a:pt x="163703" y="163703"/>
                  </a:lnTo>
                  <a:lnTo>
                    <a:pt x="0" y="163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5" b="-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826875" y="5905500"/>
            <a:ext cx="122796" cy="122796"/>
            <a:chOff x="0" y="0"/>
            <a:chExt cx="163728" cy="1637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3703" cy="163703"/>
            </a:xfrm>
            <a:custGeom>
              <a:avLst/>
              <a:gdLst/>
              <a:ahLst/>
              <a:cxnLst/>
              <a:rect l="l" t="t" r="r" b="b"/>
              <a:pathLst>
                <a:path w="163703" h="163703">
                  <a:moveTo>
                    <a:pt x="0" y="0"/>
                  </a:moveTo>
                  <a:lnTo>
                    <a:pt x="163703" y="0"/>
                  </a:lnTo>
                  <a:lnTo>
                    <a:pt x="163703" y="163703"/>
                  </a:lnTo>
                  <a:lnTo>
                    <a:pt x="0" y="163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5" b="-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826875" y="6591300"/>
            <a:ext cx="122796" cy="122796"/>
            <a:chOff x="0" y="0"/>
            <a:chExt cx="163728" cy="16372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3703" cy="163703"/>
            </a:xfrm>
            <a:custGeom>
              <a:avLst/>
              <a:gdLst/>
              <a:ahLst/>
              <a:cxnLst/>
              <a:rect l="l" t="t" r="r" b="b"/>
              <a:pathLst>
                <a:path w="163703" h="163703">
                  <a:moveTo>
                    <a:pt x="0" y="0"/>
                  </a:moveTo>
                  <a:lnTo>
                    <a:pt x="163703" y="0"/>
                  </a:lnTo>
                  <a:lnTo>
                    <a:pt x="163703" y="163703"/>
                  </a:lnTo>
                  <a:lnTo>
                    <a:pt x="0" y="163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5" b="-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826875" y="7124700"/>
            <a:ext cx="122796" cy="122796"/>
            <a:chOff x="0" y="0"/>
            <a:chExt cx="163728" cy="1637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3703" cy="163703"/>
            </a:xfrm>
            <a:custGeom>
              <a:avLst/>
              <a:gdLst/>
              <a:ahLst/>
              <a:cxnLst/>
              <a:rect l="l" t="t" r="r" b="b"/>
              <a:pathLst>
                <a:path w="163703" h="163703">
                  <a:moveTo>
                    <a:pt x="0" y="0"/>
                  </a:moveTo>
                  <a:lnTo>
                    <a:pt x="163703" y="0"/>
                  </a:lnTo>
                  <a:lnTo>
                    <a:pt x="163703" y="163703"/>
                  </a:lnTo>
                  <a:lnTo>
                    <a:pt x="0" y="163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5" b="-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4347946" y="3994883"/>
            <a:ext cx="71709" cy="71709"/>
            <a:chOff x="0" y="0"/>
            <a:chExt cx="95612" cy="9561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5631" cy="95631"/>
            </a:xfrm>
            <a:custGeom>
              <a:avLst/>
              <a:gdLst/>
              <a:ahLst/>
              <a:cxnLst/>
              <a:rect l="l" t="t" r="r" b="b"/>
              <a:pathLst>
                <a:path w="95631" h="95631">
                  <a:moveTo>
                    <a:pt x="0" y="0"/>
                  </a:moveTo>
                  <a:lnTo>
                    <a:pt x="95631" y="0"/>
                  </a:lnTo>
                  <a:lnTo>
                    <a:pt x="95631" y="95631"/>
                  </a:lnTo>
                  <a:lnTo>
                    <a:pt x="0" y="956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9" b="1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4347947" y="2723348"/>
            <a:ext cx="71709" cy="71709"/>
            <a:chOff x="0" y="0"/>
            <a:chExt cx="95612" cy="9561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5631" cy="95631"/>
            </a:xfrm>
            <a:custGeom>
              <a:avLst/>
              <a:gdLst/>
              <a:ahLst/>
              <a:cxnLst/>
              <a:rect l="l" t="t" r="r" b="b"/>
              <a:pathLst>
                <a:path w="95631" h="95631">
                  <a:moveTo>
                    <a:pt x="0" y="0"/>
                  </a:moveTo>
                  <a:lnTo>
                    <a:pt x="95631" y="0"/>
                  </a:lnTo>
                  <a:lnTo>
                    <a:pt x="95631" y="95631"/>
                  </a:lnTo>
                  <a:lnTo>
                    <a:pt x="0" y="956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9" b="1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4347947" y="3161028"/>
            <a:ext cx="71709" cy="71709"/>
            <a:chOff x="0" y="0"/>
            <a:chExt cx="95612" cy="9561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5631" cy="95631"/>
            </a:xfrm>
            <a:custGeom>
              <a:avLst/>
              <a:gdLst/>
              <a:ahLst/>
              <a:cxnLst/>
              <a:rect l="l" t="t" r="r" b="b"/>
              <a:pathLst>
                <a:path w="95631" h="95631">
                  <a:moveTo>
                    <a:pt x="0" y="0"/>
                  </a:moveTo>
                  <a:lnTo>
                    <a:pt x="95631" y="0"/>
                  </a:lnTo>
                  <a:lnTo>
                    <a:pt x="95631" y="95631"/>
                  </a:lnTo>
                  <a:lnTo>
                    <a:pt x="0" y="956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9" b="1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Freeform 22"/>
          <p:cNvSpPr/>
          <p:nvPr/>
        </p:nvSpPr>
        <p:spPr>
          <a:xfrm>
            <a:off x="14043336" y="2759202"/>
            <a:ext cx="3875092" cy="5166789"/>
          </a:xfrm>
          <a:custGeom>
            <a:avLst/>
            <a:gdLst/>
            <a:ahLst/>
            <a:cxnLst/>
            <a:rect l="l" t="t" r="r" b="b"/>
            <a:pathLst>
              <a:path w="3875092" h="5166789">
                <a:moveTo>
                  <a:pt x="0" y="0"/>
                </a:moveTo>
                <a:lnTo>
                  <a:pt x="3875092" y="0"/>
                </a:lnTo>
                <a:lnTo>
                  <a:pt x="3875092" y="5166790"/>
                </a:lnTo>
                <a:lnTo>
                  <a:pt x="0" y="51667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 descr="$PPTXTitle"/>
          <p:cNvSpPr txBox="1"/>
          <p:nvPr/>
        </p:nvSpPr>
        <p:spPr>
          <a:xfrm>
            <a:off x="4798989" y="930970"/>
            <a:ext cx="8576945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b="1" dirty="0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TECHNICAL APPR OCH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1837" y="5235489"/>
            <a:ext cx="15496540" cy="2152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spc="109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AI VISION &amp; Object Recognition </a:t>
            </a:r>
            <a:r>
              <a:rPr lang="en-US" sz="2799" spc="10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Detects customers and surroundings. </a:t>
            </a:r>
          </a:p>
          <a:p>
            <a:pPr algn="l">
              <a:lnSpc>
                <a:spcPts val="3359"/>
              </a:lnSpc>
            </a:pPr>
            <a:r>
              <a:rPr lang="en-US" sz="2799" b="1" spc="154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Speech-to-TEXT  &amp;  NLP </a:t>
            </a:r>
            <a:r>
              <a:rPr lang="en-US" sz="2799" spc="15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Understands queries </a:t>
            </a:r>
          </a:p>
          <a:p>
            <a:pPr algn="l">
              <a:lnSpc>
                <a:spcPts val="3359"/>
              </a:lnSpc>
            </a:pPr>
            <a:r>
              <a:rPr lang="en-US" sz="2799" b="1" spc="95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Robotics Control System </a:t>
            </a:r>
            <a:r>
              <a:rPr lang="en-US" sz="2799" spc="9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Performs gestures, movements, and tasks. </a:t>
            </a:r>
          </a:p>
          <a:p>
            <a:pPr algn="l">
              <a:lnSpc>
                <a:spcPts val="3359"/>
              </a:lnSpc>
            </a:pPr>
            <a:r>
              <a:rPr lang="en-US" sz="2799" b="1" spc="103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Cloud &amp; On-Device Machine Learning </a:t>
            </a:r>
            <a:r>
              <a:rPr lang="en-US" sz="2799" spc="10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Learns from interactions and</a:t>
            </a:r>
          </a:p>
          <a:p>
            <a:pPr algn="l">
              <a:lnSpc>
                <a:spcPts val="3359"/>
              </a:lnSpc>
            </a:pPr>
            <a:r>
              <a:rPr lang="en-US" sz="2799" spc="10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improves performance.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9126" y="217165"/>
            <a:ext cx="2591435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-1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Ourobonics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53000" y="2017586"/>
            <a:ext cx="9090336" cy="243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26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TECHNOLOGIES  USED</a:t>
            </a:r>
          </a:p>
          <a:p>
            <a:pPr algn="l">
              <a:lnSpc>
                <a:spcPts val="2999"/>
              </a:lnSpc>
            </a:pPr>
            <a:r>
              <a:rPr lang="en-US" sz="2499" b="1" spc="3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Hardware</a:t>
            </a:r>
            <a:r>
              <a:rPr lang="en-US" sz="2499" spc="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Raspberry Pi, Arduino, Webcam, Servo(</a:t>
            </a:r>
            <a:r>
              <a:rPr lang="en-US" sz="2499" spc="3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Deao</a:t>
            </a:r>
            <a:r>
              <a:rPr lang="en-US" sz="2499" spc="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DS,60kg), MG 90s Servos</a:t>
            </a:r>
          </a:p>
          <a:p>
            <a:pPr algn="l">
              <a:lnSpc>
                <a:spcPts val="2999"/>
              </a:lnSpc>
            </a:pPr>
            <a:r>
              <a:rPr lang="en-US" sz="2499" b="1" spc="-44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Software/Frameworks</a:t>
            </a:r>
            <a:r>
              <a:rPr lang="en-US" sz="2499" spc="-4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Python</a:t>
            </a:r>
          </a:p>
          <a:p>
            <a:pPr algn="l">
              <a:lnSpc>
                <a:spcPts val="2999"/>
              </a:lnSpc>
            </a:pPr>
            <a:r>
              <a:rPr lang="en-US" sz="2499" b="1" spc="-44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APIs</a:t>
            </a:r>
            <a:r>
              <a:rPr lang="en-US" sz="2499" spc="-4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Speech-to-Text (Google), Google Cloud</a:t>
            </a:r>
          </a:p>
          <a:p>
            <a:pPr algn="l">
              <a:lnSpc>
                <a:spcPts val="3479"/>
              </a:lnSpc>
            </a:pPr>
            <a:r>
              <a:rPr lang="en-US" sz="2499" spc="4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99" spc="44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LIVEkit</a:t>
            </a:r>
            <a:endParaRPr lang="en-US" sz="2499" spc="44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321837" y="7729877"/>
            <a:ext cx="1549654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u="sng" spc="10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  <a:hlinkClick r:id="rId6" tooltip="https://youtu.be/SfIbuJaK5dU?si=pInQTNrInSaJUY6u"/>
              </a:rPr>
              <a:t>Preview link </a:t>
            </a:r>
            <a:r>
              <a:rPr lang="en-US" sz="2799" u="sng" spc="1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 tooltip="https://youtu.be/SfIbuJaK5dU?si=pInQTNrInSaJUY6u"/>
              </a:rPr>
              <a:t>– https://youtu.be/SfIbuJaK5dU?si=pInQTNrInSaJUY6u.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28047" y="9139038"/>
            <a:ext cx="19316047" cy="9378150"/>
            <a:chOff x="0" y="0"/>
            <a:chExt cx="24384000" cy="118386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492" cy="11836207"/>
            </a:xfrm>
            <a:custGeom>
              <a:avLst/>
              <a:gdLst/>
              <a:ahLst/>
              <a:cxnLst/>
              <a:rect l="l" t="t" r="r" b="b"/>
              <a:pathLst>
                <a:path w="24383492" h="11836207">
                  <a:moveTo>
                    <a:pt x="24383492" y="11836207"/>
                  </a:moveTo>
                  <a:lnTo>
                    <a:pt x="0" y="11836207"/>
                  </a:lnTo>
                  <a:lnTo>
                    <a:pt x="0" y="0"/>
                  </a:lnTo>
                  <a:lnTo>
                    <a:pt x="24383492" y="0"/>
                  </a:lnTo>
                  <a:lnTo>
                    <a:pt x="24383492" y="11836207"/>
                  </a:lnTo>
                  <a:close/>
                </a:path>
              </a:pathLst>
            </a:custGeom>
            <a:solidFill>
              <a:srgbClr val="006FB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 descr="$PPTXTitle"/>
          <p:cNvSpPr txBox="1"/>
          <p:nvPr/>
        </p:nvSpPr>
        <p:spPr>
          <a:xfrm>
            <a:off x="3728969" y="171767"/>
            <a:ext cx="11417458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spc="-10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FEASIBILITY	AND	VIABILITY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5227956" y="0"/>
            <a:ext cx="2847748" cy="1304930"/>
            <a:chOff x="0" y="0"/>
            <a:chExt cx="3796997" cy="1739907"/>
          </a:xfrm>
        </p:grpSpPr>
        <p:sp>
          <p:nvSpPr>
            <p:cNvPr id="6" name="Freeform 6" descr="https://www.sih.gov.in/img1/SIH-Logo.png"/>
            <p:cNvSpPr/>
            <p:nvPr/>
          </p:nvSpPr>
          <p:spPr>
            <a:xfrm>
              <a:off x="0" y="0"/>
              <a:ext cx="3797046" cy="1739900"/>
            </a:xfrm>
            <a:custGeom>
              <a:avLst/>
              <a:gdLst/>
              <a:ahLst/>
              <a:cxnLst/>
              <a:rect l="l" t="t" r="r" b="b"/>
              <a:pathLst>
                <a:path w="3797046" h="1739900">
                  <a:moveTo>
                    <a:pt x="0" y="0"/>
                  </a:moveTo>
                  <a:lnTo>
                    <a:pt x="3797046" y="0"/>
                  </a:lnTo>
                  <a:lnTo>
                    <a:pt x="3797046" y="1739900"/>
                  </a:lnTo>
                  <a:lnTo>
                    <a:pt x="0" y="1739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38" r="1" b="-63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7120987" y="3945966"/>
            <a:ext cx="66675" cy="66674"/>
            <a:chOff x="0" y="0"/>
            <a:chExt cx="88900" cy="8889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0" y="0"/>
                  </a:moveTo>
                  <a:lnTo>
                    <a:pt x="88900" y="0"/>
                  </a:lnTo>
                  <a:lnTo>
                    <a:pt x="88900" y="88900"/>
                  </a:lnTo>
                  <a:lnTo>
                    <a:pt x="0" y="8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7120987" y="4831791"/>
            <a:ext cx="66675" cy="66674"/>
            <a:chOff x="0" y="0"/>
            <a:chExt cx="88900" cy="888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0" y="0"/>
                  </a:moveTo>
                  <a:lnTo>
                    <a:pt x="88900" y="0"/>
                  </a:lnTo>
                  <a:lnTo>
                    <a:pt x="88900" y="88900"/>
                  </a:lnTo>
                  <a:lnTo>
                    <a:pt x="0" y="8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7120987" y="5717616"/>
            <a:ext cx="66675" cy="66674"/>
            <a:chOff x="0" y="0"/>
            <a:chExt cx="88900" cy="8889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0" y="0"/>
                  </a:moveTo>
                  <a:lnTo>
                    <a:pt x="88900" y="0"/>
                  </a:lnTo>
                  <a:lnTo>
                    <a:pt x="88900" y="88900"/>
                  </a:lnTo>
                  <a:lnTo>
                    <a:pt x="0" y="8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7120987" y="6603441"/>
            <a:ext cx="66675" cy="66674"/>
            <a:chOff x="0" y="0"/>
            <a:chExt cx="88900" cy="8889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0" y="0"/>
                  </a:moveTo>
                  <a:lnTo>
                    <a:pt x="88900" y="0"/>
                  </a:lnTo>
                  <a:lnTo>
                    <a:pt x="88900" y="88900"/>
                  </a:lnTo>
                  <a:lnTo>
                    <a:pt x="0" y="8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7120987" y="7489266"/>
            <a:ext cx="66675" cy="66674"/>
            <a:chOff x="0" y="0"/>
            <a:chExt cx="88900" cy="8889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0" y="0"/>
                  </a:moveTo>
                  <a:lnTo>
                    <a:pt x="88900" y="0"/>
                  </a:lnTo>
                  <a:lnTo>
                    <a:pt x="88900" y="88900"/>
                  </a:lnTo>
                  <a:lnTo>
                    <a:pt x="0" y="8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1887486" y="3928864"/>
            <a:ext cx="66675" cy="66674"/>
            <a:chOff x="0" y="0"/>
            <a:chExt cx="88900" cy="8889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0" y="0"/>
                  </a:moveTo>
                  <a:lnTo>
                    <a:pt x="88900" y="0"/>
                  </a:lnTo>
                  <a:lnTo>
                    <a:pt x="88900" y="88900"/>
                  </a:lnTo>
                  <a:lnTo>
                    <a:pt x="0" y="8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11887486" y="4928989"/>
            <a:ext cx="66675" cy="66674"/>
            <a:chOff x="0" y="0"/>
            <a:chExt cx="88900" cy="8889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0" y="0"/>
                  </a:moveTo>
                  <a:lnTo>
                    <a:pt x="88900" y="0"/>
                  </a:lnTo>
                  <a:lnTo>
                    <a:pt x="88900" y="88900"/>
                  </a:lnTo>
                  <a:lnTo>
                    <a:pt x="0" y="8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11887486" y="5929114"/>
            <a:ext cx="66675" cy="66674"/>
            <a:chOff x="0" y="0"/>
            <a:chExt cx="88900" cy="8889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0" y="0"/>
                  </a:moveTo>
                  <a:lnTo>
                    <a:pt x="88900" y="0"/>
                  </a:lnTo>
                  <a:lnTo>
                    <a:pt x="88900" y="88900"/>
                  </a:lnTo>
                  <a:lnTo>
                    <a:pt x="0" y="8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1887486" y="6929239"/>
            <a:ext cx="66675" cy="66674"/>
            <a:chOff x="0" y="0"/>
            <a:chExt cx="88900" cy="8889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0" y="0"/>
                  </a:moveTo>
                  <a:lnTo>
                    <a:pt x="88900" y="0"/>
                  </a:lnTo>
                  <a:lnTo>
                    <a:pt x="88900" y="88900"/>
                  </a:lnTo>
                  <a:lnTo>
                    <a:pt x="0" y="8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>
            <a:grpSpLocks noChangeAspect="1"/>
          </p:cNvGrpSpPr>
          <p:nvPr/>
        </p:nvGrpSpPr>
        <p:grpSpPr>
          <a:xfrm>
            <a:off x="11887486" y="7929364"/>
            <a:ext cx="66675" cy="66674"/>
            <a:chOff x="0" y="0"/>
            <a:chExt cx="88900" cy="8889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0" y="0"/>
                  </a:moveTo>
                  <a:lnTo>
                    <a:pt x="88900" y="0"/>
                  </a:lnTo>
                  <a:lnTo>
                    <a:pt x="88900" y="88900"/>
                  </a:lnTo>
                  <a:lnTo>
                    <a:pt x="0" y="8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2022054" y="1304930"/>
            <a:ext cx="14629776" cy="8332318"/>
            <a:chOff x="0" y="0"/>
            <a:chExt cx="19265899" cy="1097279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265900" cy="10972800"/>
            </a:xfrm>
            <a:custGeom>
              <a:avLst/>
              <a:gdLst/>
              <a:ahLst/>
              <a:cxnLst/>
              <a:rect l="l" t="t" r="r" b="b"/>
              <a:pathLst>
                <a:path w="19265900" h="10972800">
                  <a:moveTo>
                    <a:pt x="0" y="0"/>
                  </a:moveTo>
                  <a:lnTo>
                    <a:pt x="19265900" y="0"/>
                  </a:lnTo>
                  <a:lnTo>
                    <a:pt x="192659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62" t="-19874" b="-11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99126" y="217165"/>
            <a:ext cx="2591435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-1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Ourobonics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2"/>
            <a:ext cx="18288000" cy="755015"/>
            <a:chOff x="0" y="0"/>
            <a:chExt cx="24384000" cy="10066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492" cy="1006475"/>
            </a:xfrm>
            <a:custGeom>
              <a:avLst/>
              <a:gdLst/>
              <a:ahLst/>
              <a:cxnLst/>
              <a:rect l="l" t="t" r="r" b="b"/>
              <a:pathLst>
                <a:path w="24383492" h="1006475">
                  <a:moveTo>
                    <a:pt x="24383492" y="1006475"/>
                  </a:moveTo>
                  <a:lnTo>
                    <a:pt x="0" y="1006475"/>
                  </a:lnTo>
                  <a:lnTo>
                    <a:pt x="0" y="0"/>
                  </a:lnTo>
                  <a:lnTo>
                    <a:pt x="24383492" y="0"/>
                  </a:lnTo>
                  <a:lnTo>
                    <a:pt x="24383492" y="1006475"/>
                  </a:lnTo>
                  <a:close/>
                </a:path>
              </a:pathLst>
            </a:custGeom>
            <a:solidFill>
              <a:srgbClr val="006FB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957537" y="261888"/>
            <a:ext cx="10615713" cy="787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spc="35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   ACT 	 &amp; BENEFITS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4762049" y="85645"/>
            <a:ext cx="3313652" cy="1684301"/>
            <a:chOff x="0" y="0"/>
            <a:chExt cx="4418203" cy="2245735"/>
          </a:xfrm>
        </p:grpSpPr>
        <p:sp>
          <p:nvSpPr>
            <p:cNvPr id="6" name="Freeform 6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762050" y="4601425"/>
            <a:ext cx="3105994" cy="4514849"/>
            <a:chOff x="0" y="0"/>
            <a:chExt cx="3733799" cy="601979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33800" cy="6019800"/>
            </a:xfrm>
            <a:custGeom>
              <a:avLst/>
              <a:gdLst/>
              <a:ahLst/>
              <a:cxnLst/>
              <a:rect l="l" t="t" r="r" b="b"/>
              <a:pathLst>
                <a:path w="3733800" h="6019800">
                  <a:moveTo>
                    <a:pt x="0" y="0"/>
                  </a:moveTo>
                  <a:lnTo>
                    <a:pt x="3733800" y="0"/>
                  </a:lnTo>
                  <a:lnTo>
                    <a:pt x="3733800" y="6019800"/>
                  </a:lnTo>
                  <a:lnTo>
                    <a:pt x="0" y="601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8852" r="-2885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 descr="$PPTXTitle"/>
          <p:cNvSpPr txBox="1"/>
          <p:nvPr/>
        </p:nvSpPr>
        <p:spPr>
          <a:xfrm>
            <a:off x="199126" y="217165"/>
            <a:ext cx="2591435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-1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Ourobonics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4694" y="1170726"/>
            <a:ext cx="14066520" cy="933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Improved Safety in High-Risk Environments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 deploying radiation-resistant or chemical-resistant modules, the robot protects workers in radiology rooms, chemical plants, and industrial zones—reducing human exposure to harmful conditions.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6919" y="2436495"/>
            <a:ext cx="13270308" cy="933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Operational Efficiency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Kritrim handles repetitive tasks—greetings, guidance, document handling—allowing human staff to focus on complex, decision making work.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4694" y="3627120"/>
            <a:ext cx="13602565" cy="1270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Major Cost Reduction Through Modularity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Snap-and-fit parts make maintenance extremely simple and inexpensive . Instead of replacing the entire robot, MSMEs can replace only the damaged module → cutting service costs dramatically.Overall, the robot remains </a:t>
            </a:r>
            <a:r>
              <a:rPr lang="en-US" sz="2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70–80% cheaper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than global humanoids.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4694" y="5151120"/>
            <a:ext cx="13583905" cy="962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MSME Empowerment Through Customizable Material &amp; Design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Businesses can choose the material (lightweight, durable, radiation-safe, chemical-safe) based on their needs, making advanced robotics affordable and practical even for small enterprises.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6919" y="6446520"/>
            <a:ext cx="13960775" cy="2808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Scalability Across Multiple Sectors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Thanks to modularity, the same robot can be configured for: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MSMEs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Hospitality &amp; receptions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Libraries &amp; public service desks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Hospitals / radiology zones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Chemical or industrial plants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Education institutes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single platform adapts to many industries.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2"/>
            <a:ext cx="18288000" cy="755015"/>
            <a:chOff x="0" y="0"/>
            <a:chExt cx="24384000" cy="10066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492" cy="1006475"/>
            </a:xfrm>
            <a:custGeom>
              <a:avLst/>
              <a:gdLst/>
              <a:ahLst/>
              <a:cxnLst/>
              <a:rect l="l" t="t" r="r" b="b"/>
              <a:pathLst>
                <a:path w="24383492" h="1006475">
                  <a:moveTo>
                    <a:pt x="24383492" y="1006475"/>
                  </a:moveTo>
                  <a:lnTo>
                    <a:pt x="0" y="1006475"/>
                  </a:lnTo>
                  <a:lnTo>
                    <a:pt x="0" y="0"/>
                  </a:lnTo>
                  <a:lnTo>
                    <a:pt x="24383492" y="0"/>
                  </a:lnTo>
                  <a:lnTo>
                    <a:pt x="24383492" y="1006475"/>
                  </a:lnTo>
                  <a:close/>
                </a:path>
              </a:pathLst>
            </a:custGeom>
            <a:solidFill>
              <a:srgbClr val="006FB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4762049" y="85645"/>
            <a:ext cx="3313652" cy="1684301"/>
            <a:chOff x="0" y="0"/>
            <a:chExt cx="4418203" cy="2245735"/>
          </a:xfrm>
        </p:grpSpPr>
        <p:sp>
          <p:nvSpPr>
            <p:cNvPr id="5" name="Freeform 5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>
            <a:hlinkClick r:id="rId3" tooltip="https://www.grandviewresearch.com/horizon/outlook/humanoid-robot-market/india"/>
          </p:cNvPr>
          <p:cNvSpPr/>
          <p:nvPr/>
        </p:nvSpPr>
        <p:spPr>
          <a:xfrm>
            <a:off x="757872" y="4498434"/>
            <a:ext cx="8662398" cy="4872599"/>
          </a:xfrm>
          <a:custGeom>
            <a:avLst/>
            <a:gdLst/>
            <a:ahLst/>
            <a:cxnLst/>
            <a:rect l="l" t="t" r="r" b="b"/>
            <a:pathLst>
              <a:path w="8662398" h="4872599">
                <a:moveTo>
                  <a:pt x="0" y="0"/>
                </a:moveTo>
                <a:lnTo>
                  <a:pt x="8662398" y="0"/>
                </a:lnTo>
                <a:lnTo>
                  <a:pt x="8662398" y="4872599"/>
                </a:lnTo>
                <a:lnTo>
                  <a:pt x="0" y="48725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069020" y="217165"/>
            <a:ext cx="11693029" cy="787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spc="-1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	AND	REFERENCES</a:t>
            </a:r>
          </a:p>
        </p:txBody>
      </p:sp>
      <p:sp>
        <p:nvSpPr>
          <p:cNvPr id="8" name="TextBox 8" descr="$PPTXTitle"/>
          <p:cNvSpPr txBox="1"/>
          <p:nvPr/>
        </p:nvSpPr>
        <p:spPr>
          <a:xfrm>
            <a:off x="199126" y="217165"/>
            <a:ext cx="2591435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-1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Ourobonics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7872" y="1234560"/>
            <a:ext cx="16772255" cy="365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447" lvl="1" indent="-150724" algn="l">
              <a:lnSpc>
                <a:spcPts val="2848"/>
              </a:lnSpc>
              <a:buFont typeface="Arial"/>
              <a:buChar char="•"/>
            </a:pPr>
            <a:r>
              <a:rPr lang="en-US" sz="24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 tooltip="https://www.sciencedirect.com/science/article/pii/S0957415820300477"/>
              </a:rPr>
              <a:t>A survey on modularity and distributivity in series-parallel hybrid robots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7872" y="1752872"/>
            <a:ext cx="17922129" cy="718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447" lvl="1" indent="-150724" algn="l">
              <a:lnSpc>
                <a:spcPts val="2848"/>
              </a:lnSpc>
              <a:buFont typeface="Arial"/>
              <a:buChar char="•"/>
            </a:pPr>
            <a:r>
              <a:rPr lang="en-US" sz="24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 tooltip="https://elib.dlr.de/202909/1/wolf_modularity_copyright.pdf"/>
              </a:rPr>
              <a:t>Modularity in humanoid robot design</a:t>
            </a:r>
          </a:p>
          <a:p>
            <a:pPr marL="301447" lvl="1" indent="-150724" algn="l">
              <a:lnSpc>
                <a:spcPts val="2848"/>
              </a:lnSpc>
              <a:buFont typeface="Arial"/>
              <a:buChar char="•"/>
            </a:pPr>
            <a:r>
              <a:rPr lang="en-US" sz="24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 tooltip="https://elib.dlr.de/202909/1/wolf_modularity_copyright.pdf"/>
              </a:rPr>
              <a:t>for flexibility in system structure and application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7872" y="2899835"/>
            <a:ext cx="16772255" cy="365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447" lvl="1" indent="-150724" algn="l">
              <a:lnSpc>
                <a:spcPts val="2848"/>
              </a:lnSpc>
              <a:buFont typeface="Arial"/>
              <a:buChar char="•"/>
            </a:pPr>
            <a:r>
              <a:rPr lang="en-US" sz="24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7" tooltip="https://www.ieee-jas.net/article/doi/10.1109/JAS.2023.124140"/>
              </a:rPr>
              <a:t>Advancements in Humanoid Robots: A Comprehensive Review and Future Prospects by IEEE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7872" y="3694372"/>
            <a:ext cx="17922129" cy="365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447" lvl="1" indent="-150724" algn="l">
              <a:lnSpc>
                <a:spcPts val="2848"/>
              </a:lnSpc>
              <a:buFont typeface="Arial"/>
              <a:buChar char="•"/>
            </a:pPr>
            <a:r>
              <a:rPr lang="en-US" sz="24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 tooltip="https://www.grandviewresearch.com/horizon/outlook/humanoid-robot-market/india"/>
              </a:rPr>
              <a:t>India Humanoid Robot Market Size &amp; Outlook, 2024-2030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sihpptfinal.pptx</dc:title>
  <cp:lastModifiedBy>Naveen Mehta</cp:lastModifiedBy>
  <cp:revision>3</cp:revision>
  <dcterms:created xsi:type="dcterms:W3CDTF">2006-08-16T00:00:00Z</dcterms:created>
  <dcterms:modified xsi:type="dcterms:W3CDTF">2025-12-12T10:03:04Z</dcterms:modified>
  <dc:identifier>DAG7NDs9Gi8</dc:identifier>
</cp:coreProperties>
</file>